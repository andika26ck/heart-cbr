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CV 5-fold</c:v>
                </c:pt>
              </c:strCache>
            </c:strRef>
          </c:tx>
          <c:spPr>
            <a:solidFill>
              <a:srgbClr val="2783DE"/>
            </a:solidFill>
            <a:ln>
              <a:solidFill>
                <a:srgbClr val="2783DE"/>
              </a:solidFill>
            </a:ln>
          </c:spPr>
          <c:cat>
            <c:strRef>
              <c:f>Sheet1!$A$2:$A$5</c:f>
              <c:strCache>
                <c:ptCount val="4"/>
                <c:pt idx="0">
                  <c:v>Akurasi</c:v>
                </c:pt>
                <c:pt idx="1">
                  <c:v>Presisi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75.3</c:v>
                </c:pt>
                <c:pt idx="1">
                  <c:v>77.3</c:v>
                </c:pt>
                <c:pt idx="2">
                  <c:v>69.2</c:v>
                </c:pt>
                <c:pt idx="3">
                  <c:v>72.8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Hold-out</c:v>
                </c:pt>
              </c:strCache>
            </c:strRef>
          </c:tx>
          <c:spPr>
            <a:solidFill>
              <a:srgbClr val="C4C2BD"/>
            </a:solidFill>
            <a:ln>
              <a:solidFill>
                <a:srgbClr val="C4C2BD"/>
              </a:solidFill>
            </a:ln>
          </c:spPr>
          <c:cat>
            <c:strRef>
              <c:f>Sheet1!$A$2:$A$5</c:f>
              <c:strCache>
                <c:ptCount val="4"/>
                <c:pt idx="0">
                  <c:v>Akurasi</c:v>
                </c:pt>
                <c:pt idx="1">
                  <c:v>Presisi</c:v>
                </c:pt>
                <c:pt idx="2">
                  <c:v>Recall</c:v>
                </c:pt>
                <c:pt idx="3">
                  <c:v>F1-score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73.3</c:v>
                </c:pt>
                <c:pt idx="1">
                  <c:v>78.3</c:v>
                </c:pt>
                <c:pt idx="2">
                  <c:v>62.1</c:v>
                </c:pt>
                <c:pt idx="3">
                  <c:v>69.2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title>
          <c:tx>
            <c:rich>
              <a:bodyPr/>
              <a:lstStyle/>
              <a:p>
                <a:r>
                  <a:t>Skor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Image field"/>
          <p:cNvSpPr/>
          <p:nvPr/>
        </p:nvSpPr>
        <p:spPr>
          <a:xfrm>
            <a:off x="6172200" y="0"/>
            <a:ext cx="6019800" cy="6858000"/>
          </a:xfrm>
          <a:prstGeom prst="rect">
            <a:avLst/>
          </a:prstGeom>
          <a:solidFill>
            <a:srgbClr val="F9F8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ection label"/>
          <p:cNvSpPr txBox="1"/>
          <p:nvPr/>
        </p:nvSpPr>
        <p:spPr>
          <a:xfrm>
            <a:off x="685800" y="1104900"/>
            <a:ext cx="49530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PENALARAN KOMPUTER · SUBCPMK-4</a:t>
            </a:r>
          </a:p>
        </p:txBody>
      </p:sp>
      <p:sp>
        <p:nvSpPr>
          <p:cNvPr id="4" name="Cover image accent"/>
          <p:cNvSpPr/>
          <p:nvPr/>
        </p:nvSpPr>
        <p:spPr>
          <a:xfrm>
            <a:off x="685800" y="3028950"/>
            <a:ext cx="533400" cy="47625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276600"/>
            <a:ext cx="4991100" cy="1524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C2C2B"/>
                </a:solidFill>
                <a:latin typeface="Arial"/>
              </a:rPr>
              <a:t>Case-Based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067300"/>
            <a:ext cx="4629150" cy="800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Diagnosis Penyakit Jantung · HEOM Berbobot — Andika Candra K. · Informatika UMM 2025/2026</a:t>
            </a:r>
          </a:p>
        </p:txBody>
      </p:sp>
      <p:pic>
        <p:nvPicPr>
          <p:cNvPr id="7" name="Cover image" descr="Ilustrasi jantung dengan pola sirkuit da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300" y="2130136"/>
            <a:ext cx="4762500" cy="2597727"/>
          </a:xfrm>
          <a:prstGeom prst="roundRect">
            <a:avLst>
              <a:gd name="adj" fmla="val 4400"/>
            </a:avLst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Siklus CBR lima tah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65160"/>
            <a:ext cx="4457700" cy="3327578"/>
          </a:xfrm>
          <a:prstGeom prst="roundRect">
            <a:avLst>
              <a:gd name="adj" fmla="val 3434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482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7D7A75"/>
                </a:solidFill>
                <a:latin typeface="Arial"/>
              </a:rPr>
              <a:t>Siklus Case-Based Reasoning.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METODOLOGI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Siklus Case-Based Reasoning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7D7A75"/>
                </a:solidFill>
                <a:latin typeface="Arial"/>
              </a:rPr>
              <a:t>Empat tahap inti: Retrieve mengambil kasus mirip lewat similaritas HEOM berbobot, Reuse memungut suara k tetangga, Revise menguji keyakinan, dan Retain menyimpan kasus baru. HEOM menangani atribut numerik dan nominal sekaligus.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IMPLEMENTASI &amp; MODEL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964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C2C2B"/>
                </a:solidFill>
                <a:latin typeface="Arial"/>
              </a:rPr>
              <a:t>Alur Kerja Model CBR</a:t>
            </a:r>
          </a:p>
        </p:txBody>
      </p:sp>
      <p:sp>
        <p:nvSpPr>
          <p:cNvPr id="5" name="Media frame"/>
          <p:cNvSpPr/>
          <p:nvPr/>
        </p:nvSpPr>
        <p:spPr>
          <a:xfrm>
            <a:off x="685800" y="2247900"/>
            <a:ext cx="5219700" cy="3943350"/>
          </a:xfrm>
          <a:prstGeom prst="roundRect">
            <a:avLst>
              <a:gd name="adj" fmla="val 289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Media image" descr="Bobot fitur hasil pembelajara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352"/>
            <a:ext cx="5219700" cy="3866444"/>
          </a:xfrm>
          <a:prstGeom prst="roundRect">
            <a:avLst>
              <a:gd name="adj" fmla="val 2956"/>
            </a:avLst>
          </a:prstGeom>
        </p:spPr>
      </p:pic>
      <p:cxnSp>
        <p:nvCxnSpPr>
          <p:cNvPr id="7" name="Connector 6"/>
          <p:cNvCxnSpPr/>
          <p:nvPr/>
        </p:nvCxnSpPr>
        <p:spPr>
          <a:xfrm>
            <a:off x="6505575" y="2667000"/>
            <a:ext cx="0" cy="83820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8" name="Step 1 badge"/>
          <p:cNvSpPr/>
          <p:nvPr/>
        </p:nvSpPr>
        <p:spPr>
          <a:xfrm>
            <a:off x="6324600" y="22479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2783DE"/>
          </a:solidFill>
          <a:ln w="19050">
            <a:solidFill>
              <a:srgbClr val="2783D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24600" y="233362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22885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533650"/>
            <a:ext cx="4648200" cy="838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Similaritas HEOM berbobot (Python murni, tanpa scikit-learn) mengambil k=15 kasus termirip dari 303 kasus, 13 atribut UCI Cleveland.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505575" y="3981450"/>
            <a:ext cx="0" cy="838200"/>
          </a:xfrm>
          <a:prstGeom prst="line">
            <a:avLst/>
          </a:prstGeom>
          <a:ln w="19050">
            <a:solidFill>
              <a:srgbClr val="E6E5E3"/>
            </a:solidFill>
          </a:ln>
        </p:spPr>
      </p:cxnSp>
      <p:sp>
        <p:nvSpPr>
          <p:cNvPr id="13" name="Step 2 badge"/>
          <p:cNvSpPr/>
          <p:nvPr/>
        </p:nvSpPr>
        <p:spPr>
          <a:xfrm>
            <a:off x="6324600" y="35623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24600" y="364807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4330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Reuse &amp; Revise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3848099"/>
            <a:ext cx="4648200" cy="838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Voting berbobot similaritas menetapkan diagnosis awal, lalu diuji terhadap ambang keyakinan.</a:t>
            </a:r>
          </a:p>
        </p:txBody>
      </p:sp>
      <p:sp>
        <p:nvSpPr>
          <p:cNvPr id="17" name="Step 3 badge"/>
          <p:cNvSpPr/>
          <p:nvPr/>
        </p:nvSpPr>
        <p:spPr>
          <a:xfrm>
            <a:off x="6324600" y="48768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24600" y="4962525"/>
            <a:ext cx="3619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85775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82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2C2C2B"/>
                </a:solidFill>
                <a:latin typeface="Arial"/>
              </a:rPr>
              <a:t>Retain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5162550"/>
            <a:ext cx="4648200" cy="838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406"/>
              </a:lnSpc>
              <a:spcBef>
                <a:spcPts val="0"/>
              </a:spcBef>
              <a:spcAft>
                <a:spcPts val="0"/>
              </a:spcAft>
            </a:pPr>
            <a:r>
              <a:rPr sz="1125" b="0" i="0" u="none">
                <a:solidFill>
                  <a:srgbClr val="7D7A75"/>
                </a:solidFill>
                <a:latin typeface="Arial"/>
              </a:rPr>
              <a:t>Kasus baru yang informatif disimpan untuk memperkaya basis kasus berikutnya.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HASIL &amp; EVALUASI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Kinerja Model CBR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33600"/>
            <a:ext cx="9525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2C2C2B"/>
                </a:solidFill>
                <a:latin typeface="Arial"/>
              </a:rPr>
              <a:t>Pembobotan fitur menaikkan akurasi 72.9%→79.0%; CV &amp; hold-out konsisten.</a:t>
            </a:r>
          </a:p>
        </p:txBody>
      </p:sp>
      <p:graphicFrame>
        <p:nvGraphicFramePr>
          <p:cNvPr id="6" name="Chart"/>
          <p:cNvGraphicFramePr>
            <a:graphicFrameLocks noGrp="1"/>
          </p:cNvGraphicFramePr>
          <p:nvPr/>
        </p:nvGraphicFramePr>
        <p:xfrm>
          <a:off x="685800" y="2819400"/>
          <a:ext cx="10820400" cy="28575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7D7A75"/>
                </a:solidFill>
                <a:latin typeface="Arial"/>
              </a:rPr>
              <a:t>KESIMPULAN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2783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2C2C2B"/>
                </a:solidFill>
                <a:latin typeface="Arial"/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2C2C2B"/>
                </a:solidFill>
                <a:latin typeface="Arial"/>
              </a:rPr>
              <a:t>CBR HEOM berbobot mendiagnosis penyakit jantung akurat dan transparan.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Pembobotan fitur menaikkan akurasi dari 72.9% ke 79.0%.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Keputusan dijelaskan lewat kasus mirip, cocok untuk klinis.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2783DE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2C2C2B"/>
                </a:solidFill>
                <a:latin typeface="Arial"/>
              </a:rPr>
              <a:t>Pengembangan lanjut: data klinis nyata dan seleksi kasus retain.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Presentasi CBR Heart Disease</dc:title>
  <dc:subject/>
  <dc:creator>Notion AI</dc:creator>
  <cp:keywords/>
  <dc:description>generated using python-pptx</dc:description>
  <cp:lastModifiedBy>Notion AI</cp:lastModifiedBy>
  <cp:revision>1</cp:revision>
  <dcterms:created xsi:type="dcterms:W3CDTF">2026-07-03T19:30:32Z</dcterms:created>
  <dcterms:modified xsi:type="dcterms:W3CDTF">2026-07-03T19:30:32Z</dcterms:modified>
  <cp:category/>
</cp:coreProperties>
</file>